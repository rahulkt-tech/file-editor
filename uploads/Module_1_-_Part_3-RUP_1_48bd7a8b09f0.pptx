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62" r:id="rId3"/>
    <p:sldId id="404" r:id="rId4"/>
    <p:sldId id="396" r:id="rId5"/>
    <p:sldId id="459" r:id="rId6"/>
    <p:sldId id="470" r:id="rId7"/>
    <p:sldId id="397" r:id="rId8"/>
    <p:sldId id="398" r:id="rId9"/>
    <p:sldId id="460" r:id="rId10"/>
    <p:sldId id="399" r:id="rId11"/>
    <p:sldId id="365" r:id="rId12"/>
    <p:sldId id="403" r:id="rId13"/>
    <p:sldId id="400" r:id="rId14"/>
    <p:sldId id="401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60475-CE62-4412-BD04-67C05D4CA8C7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2BBE9-B86E-464A-9C8A-33FECAA93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9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4092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0" name="Google Shape;850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F09C8-2E1A-4C48-B9B5-93298D99DB54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325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these two projects are very different in size, risk, and complexity, the development process must be configured differently. This is why RUP is called a configurable process.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2BBE9-B86E-464A-9C8A-33FECAA935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141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endParaRPr dirty="0"/>
          </a:p>
        </p:txBody>
      </p:sp>
      <p:sp>
        <p:nvSpPr>
          <p:cNvPr id="856" name="Google Shape;856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2" name="Google Shape;862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8" name="Google Shape;868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4" name="Google Shape;734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5156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3" name="Google Shape;873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2971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5FCA-7D95-49BA-AC3D-D95A6F524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0EDF2-8A22-40C5-87F4-B7BC01940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70F1-A96B-47FA-94D0-5FE1C38BD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3DE2-6BB7-4E28-9843-514D4CDE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EEF58-FDA5-495C-80A6-0B75D38D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5444-30C5-4431-AAA7-794ED0C2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AB88-8058-43AD-A397-FC378AD62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EFE41-0B35-4977-8408-76831BE5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1E78-2D27-4FD5-8754-DA595ED2D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52234-81E6-41CB-934A-B6637B0E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8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27DD-A96E-4DB0-82D7-35D0A08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ACA4-CF48-4AF5-A75E-FDAEE137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BFBA3-FF29-47DF-87EE-570CE9A5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68CF8-5F17-4DB5-BD4D-2096E883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5298A-090D-42A2-B966-4A8529FF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61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80E2-CDB5-4174-AC02-50A2FE5A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52F6-E8EC-47DA-907E-65BFE97A6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CD3D2-8CB4-4CB4-BEE7-910126440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F4A98-05FF-4EBC-A1BD-B0EEDA15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2B83-57D5-4D57-9C24-7656E896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D8D1-86BF-4C0E-8B61-E5F3EFC6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4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A8E0-7CDD-483A-A1D4-9CAEBFBA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4CFF6-6B45-48F3-8388-ABD7013E1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EC77E-2CE3-4B09-8C0C-371807DCA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6A0C2-F3A8-4419-B224-85A6F1322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14FD7-69C6-4BBD-B22D-CAF3826A9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4992D-39D7-4AE3-A050-533557E8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EFA97-AC17-4381-9142-15CC59C8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68C0D-C4F2-4065-B24B-7F7D5668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79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87F8-8742-4C52-8B9C-349285B8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B4FE7-3E79-486B-8650-97F42D29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953F1-40EF-41FC-9D56-7563C204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A1D41-74FA-4467-8A11-74F472E5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774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4C597B-5C77-4C4D-9F39-17D07B690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A6583-6726-4ECF-B9FC-F7784247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E5CA6-D86F-40F0-8C41-51277AF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15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E6863-DA67-4774-B9A7-22C50BB5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2DB6C-8321-4BF9-9E0E-06917B87E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714E4-3CA1-4205-86E0-F7C31B212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CC926-2C90-4BB7-9EF8-6F744C3F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13C70-4021-4650-9F56-175D8234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9758E-CC77-4FDF-BE93-68C0088A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39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28EB-3C79-4C99-B944-B7E99467A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77DF5-B644-41B4-B2DB-F52A06B4B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CA83A-4D9A-486F-B6A6-CB89A1D90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4771E-4580-45AD-966B-591D0153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FB20C-9EAB-4BEA-B0C3-890A86B4F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39672-FA9A-4D61-829E-2AE07A67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05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4435-4F64-427C-B2BE-9633D8B7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13E2-C92F-4291-8A23-944AE1F57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0E9F-795D-44A2-8D52-25AF142A3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10BC7-9594-420E-ADFA-9EDB81FB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CD9AD-EE62-4951-AE8E-4F850131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E70BC-D105-4678-BFC8-804786E96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57E6-9AA8-46CD-829B-6FEDFEBAD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DFDAD-F73C-404F-BA9A-53447435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C9FEC-81D8-48A9-9009-FD159AE0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6198F-E9FD-4ADF-A423-21128BA7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099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2130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7"/>
          <p:cNvSpPr txBox="1">
            <a:spLocks noGrp="1"/>
          </p:cNvSpPr>
          <p:nvPr>
            <p:ph type="title"/>
          </p:nvPr>
        </p:nvSpPr>
        <p:spPr>
          <a:xfrm>
            <a:off x="916939" y="177164"/>
            <a:ext cx="33274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sng">
                <a:solidFill>
                  <a:srgbClr val="3542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7"/>
          <p:cNvSpPr txBox="1">
            <a:spLocks noGrp="1"/>
          </p:cNvSpPr>
          <p:nvPr>
            <p:ph type="body" idx="1"/>
          </p:nvPr>
        </p:nvSpPr>
        <p:spPr>
          <a:xfrm>
            <a:off x="916939" y="1061085"/>
            <a:ext cx="1035812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073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1F568-79B9-46E9-97A2-83F4DB80E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77589-632A-4A4D-9453-E7F7AF721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1C5F-79AC-4136-B92E-DAC6517AE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0E3EA-8FDA-4EFA-94EC-CDD0F1A6031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541B5-BD15-4849-BC6E-E22AE94DB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3F8CA-E502-4B84-B4DA-F08CACFDD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8E55A-5366-452E-B125-E663C48BE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9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23A9-A636-460B-9BA7-9B704F3B8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OOAD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70138-8113-4B2A-9BEB-4B2B78699C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(Module 1 – Part 3-RUP)</a:t>
            </a:r>
          </a:p>
        </p:txBody>
      </p:sp>
    </p:spTree>
    <p:extLst>
      <p:ext uri="{BB962C8B-B14F-4D97-AF65-F5344CB8AC3E}">
        <p14:creationId xmlns:p14="http://schemas.microsoft.com/office/powerpoint/2010/main" val="50780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1"/>
          <p:cNvSpPr txBox="1">
            <a:spLocks noGrp="1"/>
          </p:cNvSpPr>
          <p:nvPr>
            <p:ph type="title"/>
          </p:nvPr>
        </p:nvSpPr>
        <p:spPr>
          <a:xfrm>
            <a:off x="916939" y="100965"/>
            <a:ext cx="7846061" cy="44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dirty="0"/>
              <a:t>Software Requirement Specification (SRS)</a:t>
            </a:r>
            <a:endParaRPr sz="2800" dirty="0"/>
          </a:p>
        </p:txBody>
      </p:sp>
      <p:sp>
        <p:nvSpPr>
          <p:cNvPr id="717" name="Google Shape;717;p91"/>
          <p:cNvSpPr txBox="1"/>
          <p:nvPr/>
        </p:nvSpPr>
        <p:spPr>
          <a:xfrm>
            <a:off x="916939" y="526770"/>
            <a:ext cx="10035540" cy="605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266700" marR="0" lvl="0" indent="-254634" algn="l" rtl="0">
              <a:spcBef>
                <a:spcPts val="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41985" marR="0" lvl="1" indent="-271779" algn="l" rtl="0">
              <a:spcBef>
                <a:spcPts val="29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romanLcParenBoth"/>
            </a:pPr>
            <a:r>
              <a:rPr lang="en-US" sz="2000" b="0" i="0" u="none" strike="noStrike" cap="none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Purpose of this document : What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01675" marR="0" lvl="1" indent="-331469" algn="l" rtl="0">
              <a:spcBef>
                <a:spcPts val="275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romanLcParenBoth"/>
            </a:pPr>
            <a:r>
              <a:rPr lang="en-US" sz="2000" b="0" i="0" u="none" strike="noStrike" cap="none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Scope of this document : Why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9460" marR="0" lvl="1" indent="-389254" algn="l" rtl="0">
              <a:spcBef>
                <a:spcPts val="275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romanLcParenBoth"/>
            </a:pPr>
            <a:r>
              <a:rPr lang="en-US" sz="2000" b="0" i="0" u="none" strike="noStrike" cap="none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Document Overview </a:t>
            </a:r>
            <a:r>
              <a:rPr lang="en-US" sz="2000" b="0" i="0" u="none" strike="noStrike" cap="none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: Summary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88265" lvl="0" indent="-127000" algn="l" rtl="0">
              <a:lnSpc>
                <a:spcPct val="150000"/>
              </a:lnSpc>
              <a:spcBef>
                <a:spcPts val="725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General description: </a:t>
            </a:r>
            <a:r>
              <a:rPr lang="en-US" sz="20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Includes objective of user, a user characteristic, features, benefits, about  why its importance is mentioned.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-254634" algn="l" rtl="0">
              <a:spcBef>
                <a:spcPts val="120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Functional Requirements: </a:t>
            </a:r>
            <a:r>
              <a:rPr lang="en-US" sz="20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Includes effects due to operation of program is fully explained.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-254634" algn="l" rtl="0">
              <a:spcBef>
                <a:spcPts val="120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Interface Requirements: </a:t>
            </a:r>
            <a:r>
              <a:rPr lang="en-US" sz="20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How software program communicates with each other or users.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Performance Requirements: </a:t>
            </a:r>
            <a:r>
              <a:rPr lang="en-US" sz="20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How a software system performs desired functions under specific  condition is explained.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-254634" algn="l" rtl="0">
              <a:spcBef>
                <a:spcPts val="1205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Design Constraints</a:t>
            </a:r>
            <a:r>
              <a:rPr lang="en-US" sz="20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: Limitation or restriction are specified and explained for design team.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-254634" algn="l" rtl="0">
              <a:spcBef>
                <a:spcPts val="120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Non-Functional Attributes : </a:t>
            </a:r>
            <a:r>
              <a:rPr lang="en-US" sz="2000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Required by software system for better performance.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-254634" algn="l" rtl="0">
              <a:spcBef>
                <a:spcPts val="120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Preliminary Schedule and Budget: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-254634" algn="l" rtl="0">
              <a:spcBef>
                <a:spcPts val="1200"/>
              </a:spcBef>
              <a:spcAft>
                <a:spcPts val="0"/>
              </a:spcAft>
              <a:buClr>
                <a:srgbClr val="273139"/>
              </a:buClr>
              <a:buSzPts val="2000"/>
              <a:buFont typeface="Calibri"/>
              <a:buAutoNum type="arabicPeriod"/>
            </a:pPr>
            <a:r>
              <a:rPr lang="en-US" sz="2000" b="1" dirty="0">
                <a:solidFill>
                  <a:srgbClr val="273139"/>
                </a:solidFill>
                <a:latin typeface="Calibri"/>
                <a:ea typeface="Calibri"/>
                <a:cs typeface="Calibri"/>
                <a:sym typeface="Calibri"/>
              </a:rPr>
              <a:t>Appendices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212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96FD-1E33-4735-6648-981A6290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177164"/>
            <a:ext cx="3327400" cy="984885"/>
          </a:xfrm>
        </p:spPr>
        <p:txBody>
          <a:bodyPr/>
          <a:lstStyle/>
          <a:p>
            <a:r>
              <a:rPr lang="en-US" dirty="0"/>
              <a:t>Benefits of an SRS: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B5024-9463-76AC-EBEE-9473969C9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788732"/>
            <a:ext cx="10358120" cy="5355312"/>
          </a:xfrm>
        </p:spPr>
        <p:txBody>
          <a:bodyPr/>
          <a:lstStyle/>
          <a:p>
            <a:r>
              <a:rPr lang="en-US" sz="2800" b="1" dirty="0"/>
              <a:t>Clear communication</a:t>
            </a:r>
            <a:r>
              <a:rPr lang="en-US" sz="2800" dirty="0"/>
              <a:t>: An SRS ensures everyone involved in the project understands the software's requirements. This helps to avoid misunderstandings and rework later in the development process.</a:t>
            </a:r>
          </a:p>
          <a:p>
            <a:r>
              <a:rPr lang="en-US" sz="2800" b="1" dirty="0"/>
              <a:t>Reduced risk of errors</a:t>
            </a:r>
            <a:r>
              <a:rPr lang="en-US" sz="2800" dirty="0"/>
              <a:t>: A well-defined SRS can help to identify and mitigate potential risks early on.</a:t>
            </a:r>
          </a:p>
          <a:p>
            <a:r>
              <a:rPr lang="en-US" sz="2800" b="1" dirty="0"/>
              <a:t>Improved project management</a:t>
            </a:r>
            <a:r>
              <a:rPr lang="en-US" sz="2800" dirty="0"/>
              <a:t>: An SRS provides a roadmap for the development team, which can help to improve project planning and execution.</a:t>
            </a:r>
          </a:p>
          <a:p>
            <a:r>
              <a:rPr lang="en-US" sz="2800" b="1" dirty="0"/>
              <a:t>Increased quality</a:t>
            </a:r>
            <a:r>
              <a:rPr lang="en-US" sz="2800" dirty="0"/>
              <a:t>: A clear understanding of the requirements can help to ensure that the software is built to meet the needs of its users.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29296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17"/>
          <p:cNvSpPr txBox="1">
            <a:spLocks noGrp="1"/>
          </p:cNvSpPr>
          <p:nvPr>
            <p:ph type="title"/>
          </p:nvPr>
        </p:nvSpPr>
        <p:spPr>
          <a:xfrm>
            <a:off x="2743200" y="555419"/>
            <a:ext cx="5574029" cy="50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dirty="0"/>
              <a:t>Rational Unified Process (RUP)</a:t>
            </a:r>
            <a:endParaRPr dirty="0"/>
          </a:p>
        </p:txBody>
      </p:sp>
      <p:sp>
        <p:nvSpPr>
          <p:cNvPr id="853" name="Google Shape;853;p117"/>
          <p:cNvSpPr txBox="1"/>
          <p:nvPr/>
        </p:nvSpPr>
        <p:spPr>
          <a:xfrm>
            <a:off x="889462" y="1321724"/>
            <a:ext cx="10119995" cy="449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241300" marR="5080" lvl="0" indent="-229234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RUP is a specific framework that provides a structured approach to </a:t>
            </a:r>
            <a:r>
              <a:rPr lang="en-US" sz="28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implementing the SDLC.</a:t>
            </a:r>
          </a:p>
          <a:p>
            <a:pPr marL="12066" marR="5080" lv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9234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process is a set of partially ordered steps intended to reach a goal.</a:t>
            </a:r>
            <a:endParaRPr sz="2800" dirty="0"/>
          </a:p>
          <a:p>
            <a:pPr marL="241300" marR="0" lvl="0" indent="-229234" algn="just" rtl="0">
              <a:spcBef>
                <a:spcPts val="43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UML is largely process-independent. RUP is well-suited to the UML.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454025" lvl="0" indent="-229234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Goal: Enable the production of highest quality software that meets end-user  needs within predictable schedules and budgets.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234315" lvl="0" indent="-229234" algn="just" rtl="0">
              <a:lnSpc>
                <a:spcPct val="95833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Management side: Provides a disciplined approach on how to assign tasks and  responsibilities.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0DE0-E3FC-4023-9D14-57463DFF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30197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354279"/>
                </a:solidFill>
                <a:ea typeface="Calibri"/>
                <a:cs typeface="Calibri"/>
                <a:sym typeface="Calibri"/>
              </a:rPr>
              <a:t>Characteristics of Process</a:t>
            </a:r>
            <a:b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6E460-3267-4DB9-9623-454D9330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35378"/>
            <a:ext cx="11963400" cy="5747983"/>
          </a:xfrm>
        </p:spPr>
        <p:txBody>
          <a:bodyPr>
            <a:normAutofit/>
          </a:bodyPr>
          <a:lstStyle/>
          <a:p>
            <a:pPr marL="241300" lvl="0" indent="-229234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RUP is an Iterative process</a:t>
            </a:r>
          </a:p>
          <a:p>
            <a:pPr marL="241300" lvl="0" indent="-229234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RUP emphasize the creation and  maintenance of Models rather than documents.</a:t>
            </a:r>
            <a:endParaRPr lang="en-US" dirty="0"/>
          </a:p>
          <a:p>
            <a:pPr marL="241300" lvl="0" indent="-229234">
              <a:spcBef>
                <a:spcPts val="43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Architecture centric - T</a:t>
            </a:r>
            <a:r>
              <a:rPr lang="en-US" dirty="0"/>
              <a:t>he overall design of s/w is created. The final product is well structured and easy to maintain.</a:t>
            </a:r>
            <a:endParaRPr lang="en-US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241300" lvl="0" indent="-229234"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Use Case driven -  </a:t>
            </a:r>
            <a:r>
              <a:rPr lang="en-US" dirty="0"/>
              <a:t>This helps in prioritizing features and ensuring that 				the system meets user needs effectively.</a:t>
            </a:r>
            <a:endParaRPr lang="en-US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241300" lvl="0" indent="-229234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Object oriented techniques - </a:t>
            </a:r>
            <a:r>
              <a:rPr lang="en-US" dirty="0"/>
              <a:t>It allows for reuse of components and 					enhances the maintainability of the system.</a:t>
            </a:r>
            <a:endParaRPr lang="en-US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241300" indent="-229234">
              <a:spcBef>
                <a:spcPts val="430"/>
              </a:spcBef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Configurable process - </a:t>
            </a:r>
            <a:r>
              <a:rPr lang="en-US" dirty="0"/>
              <a:t>Because these two projects are very different in size, risk, and complexity, the development process must be configured differently. This is why RUP is called a configurable process.</a:t>
            </a:r>
            <a:endParaRPr lang="en-IN" dirty="0"/>
          </a:p>
          <a:p>
            <a:pPr marL="241300" lvl="0" indent="-229234"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Quality control and risk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29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04C9-49FB-4A9F-8C56-D1D3238D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4213"/>
          </a:xfrm>
        </p:spPr>
        <p:txBody>
          <a:bodyPr>
            <a:normAutofit fontScale="90000"/>
          </a:bodyPr>
          <a:lstStyle/>
          <a:p>
            <a:r>
              <a:rPr lang="en-IN" dirty="0"/>
              <a:t>Small Project Vs Large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CE01BF-BC19-42E8-ABE8-0F6EF144EE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875710"/>
              </p:ext>
            </p:extLst>
          </p:nvPr>
        </p:nvGraphicFramePr>
        <p:xfrm>
          <a:off x="1665453" y="1014413"/>
          <a:ext cx="8861094" cy="4854339"/>
        </p:xfrm>
        <a:graphic>
          <a:graphicData uri="http://schemas.openxmlformats.org/drawingml/2006/table">
            <a:tbl>
              <a:tblPr/>
              <a:tblGrid>
                <a:gridCol w="2953698">
                  <a:extLst>
                    <a:ext uri="{9D8B030D-6E8A-4147-A177-3AD203B41FA5}">
                      <a16:colId xmlns:a16="http://schemas.microsoft.com/office/drawing/2014/main" val="347912731"/>
                    </a:ext>
                  </a:extLst>
                </a:gridCol>
                <a:gridCol w="2953698">
                  <a:extLst>
                    <a:ext uri="{9D8B030D-6E8A-4147-A177-3AD203B41FA5}">
                      <a16:colId xmlns:a16="http://schemas.microsoft.com/office/drawing/2014/main" val="2662936707"/>
                    </a:ext>
                  </a:extLst>
                </a:gridCol>
                <a:gridCol w="2953698">
                  <a:extLst>
                    <a:ext uri="{9D8B030D-6E8A-4147-A177-3AD203B41FA5}">
                      <a16:colId xmlns:a16="http://schemas.microsoft.com/office/drawing/2014/main" val="3278165877"/>
                    </a:ext>
                  </a:extLst>
                </a:gridCol>
              </a:tblGrid>
              <a:tr h="308212">
                <a:tc>
                  <a:txBody>
                    <a:bodyPr/>
                    <a:lstStyle/>
                    <a:p>
                      <a:r>
                        <a:rPr lang="en-IN" sz="1500" b="1"/>
                        <a:t>Aspect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/>
                        <a:t>A) College Event App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/>
                        <a:t>B) Railway Reservation System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410691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Team size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2–4 students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50+ developers, testers, managers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797548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Users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Limited (college students)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Millions of users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148957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Project duration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1–2 months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1–2 years or more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861212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Complexity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Low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Very high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201042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Risk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Low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Very high (money, safety, reliability)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76916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Documentation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Minimal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Very detailed and formal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306209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Architecture effort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Simple layered structure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Strong, distributed architecture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6054779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Testing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Basic functional testing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Multi-level, rigorous testing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960937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Security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Basic login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Strong authentication, encryption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099472"/>
                  </a:ext>
                </a:extLst>
              </a:tr>
              <a:tr h="539371">
                <a:tc>
                  <a:txBody>
                    <a:bodyPr/>
                    <a:lstStyle/>
                    <a:p>
                      <a:r>
                        <a:rPr lang="en-IN" sz="1500"/>
                        <a:t>Performance needs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Normal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High performance, high concurrency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364836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Scalability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Not critical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Very important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57513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Process strictness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Light, flexible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Strict, disciplined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166741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Iterations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Few, short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Many planned releases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405805"/>
                  </a:ext>
                </a:extLst>
              </a:tr>
              <a:tr h="308212">
                <a:tc>
                  <a:txBody>
                    <a:bodyPr/>
                    <a:lstStyle/>
                    <a:p>
                      <a:r>
                        <a:rPr lang="en-IN" sz="1500"/>
                        <a:t>Budget control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Informal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Strict planning and tracking</a:t>
                      </a:r>
                    </a:p>
                  </a:txBody>
                  <a:tcPr marL="77053" marR="77053" marT="38526" marB="385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729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37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18"/>
          <p:cNvSpPr txBox="1">
            <a:spLocks noGrp="1"/>
          </p:cNvSpPr>
          <p:nvPr>
            <p:ph type="title"/>
          </p:nvPr>
        </p:nvSpPr>
        <p:spPr>
          <a:xfrm>
            <a:off x="916938" y="195453"/>
            <a:ext cx="6855461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Phases and iterations</a:t>
            </a:r>
            <a:r>
              <a:rPr lang="en-US" sz="2400" dirty="0"/>
              <a:t>:</a:t>
            </a:r>
            <a:endParaRPr sz="2400" dirty="0"/>
          </a:p>
        </p:txBody>
      </p:sp>
      <p:sp>
        <p:nvSpPr>
          <p:cNvPr id="859" name="Google Shape;859;p118"/>
          <p:cNvSpPr txBox="1"/>
          <p:nvPr/>
        </p:nvSpPr>
        <p:spPr>
          <a:xfrm>
            <a:off x="942338" y="669721"/>
            <a:ext cx="10944862" cy="505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9525" rIns="0" bIns="0" anchor="t" anchorCtr="0">
            <a:spAutoFit/>
          </a:bodyPr>
          <a:lstStyle/>
          <a:p>
            <a:pPr marL="241300" marR="5080" lvl="0" indent="-229234" algn="l" rtl="0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 span of time between two major milestones of the process ,when a well-defined  set of objectives are met, artifacts are completed, and decisions are made whether to move into the next phase. 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8039" marR="0" lvl="1" indent="-279399" algn="l" rtl="0">
              <a:spcBef>
                <a:spcPts val="69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Inception: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Establish the business case for the project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8039" marR="0" lvl="1" indent="-279399" algn="l" rtl="0">
              <a:spcBef>
                <a:spcPts val="74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Elaboration: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Establish a project plan and a sound architecture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8039" marR="0" lvl="1" indent="-279399" algn="l" rtl="0">
              <a:spcBef>
                <a:spcPts val="73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Construction: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 the system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8675" marR="0" lvl="1" indent="-280035" algn="l" rtl="0">
              <a:spcBef>
                <a:spcPts val="73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Transition: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Supply the system to its end users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268605" lvl="0" indent="-229234" algn="l" rtl="0">
              <a:lnSpc>
                <a:spcPct val="108181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iteration represents a complete development	cycle, from requirements capture in  analysis to implementation and testing, that results in the release of an executable  project.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9"/>
          <p:cNvSpPr txBox="1">
            <a:spLocks noGrp="1"/>
          </p:cNvSpPr>
          <p:nvPr>
            <p:ph type="title"/>
          </p:nvPr>
        </p:nvSpPr>
        <p:spPr>
          <a:xfrm>
            <a:off x="916939" y="189357"/>
            <a:ext cx="1487805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none">
                <a:latin typeface="Arial"/>
                <a:ea typeface="Arial"/>
                <a:cs typeface="Arial"/>
                <a:sym typeface="Arial"/>
              </a:rPr>
              <a:t>Phases: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19"/>
          <p:cNvSpPr txBox="1"/>
          <p:nvPr/>
        </p:nvSpPr>
        <p:spPr>
          <a:xfrm>
            <a:off x="762000" y="1219200"/>
            <a:ext cx="10340975" cy="29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7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Establish the business case for the system and delimit the project's scope.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265430" lvl="0" indent="-229234" algn="l" rtl="0">
              <a:lnSpc>
                <a:spcPct val="95909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business case includes success criteria, risk assessment, estimates of the resources  needed, and a phase plan showing a schedule of major milestones.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spcBef>
                <a:spcPts val="484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an executable prototype that serves as a proof of concept.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891539" lvl="0" indent="-229234" algn="l" rtl="0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the end, Examine the life cycle objectives of the project and decide whether to  proceed with full-scale development.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E114-756A-439B-9A75-E4311B6D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8194"/>
            <a:ext cx="10972800" cy="391406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DB6C-05C4-4953-B212-271587CDF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1"/>
            <a:ext cx="10972800" cy="5287964"/>
          </a:xfrm>
        </p:spPr>
        <p:txBody>
          <a:bodyPr/>
          <a:lstStyle/>
          <a:p>
            <a:pPr marL="12700" lvl="0" indent="0">
              <a:spcBef>
                <a:spcPts val="470"/>
              </a:spcBef>
              <a:spcAft>
                <a:spcPts val="0"/>
              </a:spcAft>
              <a:buNone/>
            </a:pPr>
            <a:r>
              <a:rPr lang="en-US" b="1" u="sng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Elaboration</a:t>
            </a:r>
            <a:endParaRPr lang="en-US" sz="2400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241300" lvl="0" indent="-229234">
              <a:lnSpc>
                <a:spcPct val="107954"/>
              </a:lnSpc>
              <a:spcBef>
                <a:spcPts val="46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Goal: Analyze the problem domain, establish a sound architectural foundation, develop the project plan, and eliminate the highest risk elements of the project.</a:t>
            </a:r>
          </a:p>
          <a:p>
            <a:pPr marL="241300" lvl="0" indent="-229234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Architectural decisions must be made with an understanding of the whole system</a:t>
            </a:r>
          </a:p>
          <a:p>
            <a:pPr marL="241300" lvl="0" indent="-229234"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Describe most of the system's requirements.</a:t>
            </a:r>
          </a:p>
          <a:p>
            <a:pPr marL="241300" lvl="0" indent="-229234">
              <a:lnSpc>
                <a:spcPct val="107954"/>
              </a:lnSpc>
              <a:spcBef>
                <a:spcPts val="47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Verify the architecture: Implement a system that demonstrates the architectural choices(prototypes and models) and executes significant use cases.</a:t>
            </a:r>
          </a:p>
          <a:p>
            <a:pPr marL="241300" marR="5080" lvl="0" indent="-229234">
              <a:lnSpc>
                <a:spcPct val="95909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At the end, examine the detailed system objectives and scope, the choice of architecture,  and the resolution of major risks, and decide whether to proceed with construction.</a:t>
            </a:r>
          </a:p>
          <a:p>
            <a:r>
              <a:rPr lang="en-US" sz="2400" dirty="0"/>
              <a:t>The development team works with stakeholders to clarify and validate </a:t>
            </a:r>
            <a:r>
              <a:rPr lang="en-US" sz="2400" b="1" dirty="0"/>
              <a:t>functional</a:t>
            </a:r>
            <a:r>
              <a:rPr lang="en-US" sz="2400" dirty="0"/>
              <a:t> and </a:t>
            </a:r>
            <a:r>
              <a:rPr lang="en-US" sz="2400" b="1" dirty="0"/>
              <a:t>non-functional requirements</a:t>
            </a:r>
            <a:r>
              <a:rPr lang="en-US" sz="2400" dirty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17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20"/>
          <p:cNvSpPr txBox="1"/>
          <p:nvPr/>
        </p:nvSpPr>
        <p:spPr>
          <a:xfrm>
            <a:off x="916939" y="54356"/>
            <a:ext cx="10349230" cy="649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1102995" lvl="0" indent="-229234" algn="l" rtl="0">
              <a:lnSpc>
                <a:spcPct val="107916"/>
              </a:lnSpc>
              <a:spcBef>
                <a:spcPts val="104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Iteratively and incrementally develop a complete product that is ready to  transition to its user community.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indent="-229234">
              <a:lnSpc>
                <a:spcPct val="113958"/>
              </a:lnSpc>
              <a:spcBef>
                <a:spcPts val="675"/>
              </a:spcBef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Describing the remaining requirements and acceptance criteria, </a:t>
            </a:r>
            <a:r>
              <a:rPr lang="en-US" sz="2400" dirty="0"/>
              <a:t>focusing on the low-level design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completing the implementation and test of the software.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the end , decide if the software, sites, and users are all ready to go operational.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Transition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 the software to the user community.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742950" lvl="0" indent="-229234" algn="l" rtl="0">
              <a:lnSpc>
                <a:spcPct val="107916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 additional development in order to adjust the system, correct some  undetected problems, or finish some features that have been postponed.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0" lvl="0" indent="-229234" algn="l" rtl="0">
              <a:lnSpc>
                <a:spcPct val="113958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Starts with a beta release (test version) of the system, which is then replaced with the production system (live version).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marR="123825" lvl="0" indent="-229234" algn="l" rtl="0">
              <a:lnSpc>
                <a:spcPct val="107916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the end, decide whether the life cycle objectives of the project have been met  and determine if you should start another development cycle.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294894"/>
            <a:ext cx="9303803" cy="6268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9404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21"/>
          <p:cNvSpPr txBox="1">
            <a:spLocks noGrp="1"/>
          </p:cNvSpPr>
          <p:nvPr>
            <p:ph type="title"/>
          </p:nvPr>
        </p:nvSpPr>
        <p:spPr>
          <a:xfrm>
            <a:off x="916939" y="177164"/>
            <a:ext cx="33274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Workflows:</a:t>
            </a:r>
            <a:endParaRPr/>
          </a:p>
        </p:txBody>
      </p:sp>
      <p:sp>
        <p:nvSpPr>
          <p:cNvPr id="876" name="Google Shape;876;p121"/>
          <p:cNvSpPr txBox="1"/>
          <p:nvPr/>
        </p:nvSpPr>
        <p:spPr>
          <a:xfrm>
            <a:off x="304801" y="672859"/>
            <a:ext cx="11506200" cy="581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2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Rational Unified Process consists of nine process workflows.</a:t>
            </a: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process that happens in each phase gives the structured approach to assigning responsibilities and tasks to the team.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6230" marR="0" lvl="0" indent="-304165" algn="l" rtl="0"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modeling - 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the business and its processes to understand the system requirements so that the s/w can be designed 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6230" marR="0" lvl="0" indent="-304165" algn="l" rtl="0"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Requirements -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Establish and maintain agreement with the customers and other stakeholders on what the system should do. Define the boundaries of (delimit) the system.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6230" marR="0" lvl="0" indent="-304165" algn="l" rtl="0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 and design-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we will build the system to meet the user requirements. Create a model that serves as a blueprint.</a:t>
            </a:r>
          </a:p>
          <a:p>
            <a:pPr marL="316230" marR="0" lvl="0" indent="-304165" algn="l" rtl="0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- 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Components are tested, assembled and tested as a coherence system</a:t>
            </a: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6230" marR="0" lvl="0" indent="-304165" algn="l" rtl="0"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Test-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 integration of all components and working of full system . Find out the faults</a:t>
            </a: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 to end and user acceptance testing happens in transition phase.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6230" marR="0" lvl="0" indent="-304165" algn="l" rtl="0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Deployment - 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Packaging , distribution, installation, help, assistance, data migration, acceptance testing and user acceptance. 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5449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21"/>
          <p:cNvSpPr txBox="1">
            <a:spLocks noGrp="1"/>
          </p:cNvSpPr>
          <p:nvPr>
            <p:ph type="title"/>
          </p:nvPr>
        </p:nvSpPr>
        <p:spPr>
          <a:xfrm>
            <a:off x="914400" y="32172"/>
            <a:ext cx="3327400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Process Workflows:</a:t>
            </a:r>
            <a:endParaRPr dirty="0"/>
          </a:p>
        </p:txBody>
      </p:sp>
      <p:sp>
        <p:nvSpPr>
          <p:cNvPr id="876" name="Google Shape;876;p121"/>
          <p:cNvSpPr txBox="1"/>
          <p:nvPr/>
        </p:nvSpPr>
        <p:spPr>
          <a:xfrm>
            <a:off x="76200" y="545887"/>
            <a:ext cx="11963400" cy="368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2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following disciplines are executed throughout the lifecycle.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265" marR="0" lvl="0" indent="-457200" algn="l" rtl="0">
              <a:lnSpc>
                <a:spcPct val="113958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+mj-lt"/>
              <a:buAutoNum type="arabicPeriod" startAt="7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management: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software development project, including planning, staffing, and monitoring the project, as well as managing the risks.</a:t>
            </a:r>
          </a:p>
          <a:p>
            <a:pPr marL="469265" marR="0" lvl="0" indent="-457200" algn="l" rtl="0">
              <a:lnSpc>
                <a:spcPct val="113958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+mj-lt"/>
              <a:buAutoNum type="arabicPeriod" startAt="7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Configuration and change management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 the configuration items (code, design docs, user docs), control changes to those items, and manage configurations of those items.</a:t>
            </a:r>
          </a:p>
          <a:p>
            <a:pPr marL="469265" marR="0" lvl="0" indent="-457200" algn="l" rtl="0">
              <a:lnSpc>
                <a:spcPct val="113958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+mj-lt"/>
              <a:buAutoNum type="arabicPeriod" startAt="7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Environment -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Covers the necessary infrastructure required to develop a system. Provide the software development environment, including both processes and tools that support the development team. Customizing RUP to a specific context.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4BE129-1ABC-02ED-F605-3EF79624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048" y="4353883"/>
            <a:ext cx="8431902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39FF6B-018F-F406-84A1-0EB3BAEF31CF}"/>
              </a:ext>
            </a:extLst>
          </p:cNvPr>
          <p:cNvSpPr txBox="1"/>
          <p:nvPr/>
        </p:nvSpPr>
        <p:spPr>
          <a:xfrm>
            <a:off x="1880050" y="6185141"/>
            <a:ext cx="9549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shows the relative order and iterative nature of the macro process disciplines. Each cycle through the disciplines constitutes an iteration of the macro process.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4168-7708-157E-126D-B2E6482D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9827261" cy="1477328"/>
          </a:xfrm>
        </p:spPr>
        <p:txBody>
          <a:bodyPr/>
          <a:lstStyle/>
          <a:p>
            <a:r>
              <a:rPr lang="en-US" dirty="0"/>
              <a:t>Process Milestones, Phases, and Iterations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F7783-2918-32B3-FB05-19B61C760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6CD71-9DBB-D567-6232-C3220E96B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97756"/>
            <a:ext cx="11247959" cy="506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70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03D3-AE0A-C71E-D8D4-1E7E686B6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8" y="177164"/>
            <a:ext cx="5712461" cy="984885"/>
          </a:xfrm>
        </p:spPr>
        <p:txBody>
          <a:bodyPr/>
          <a:lstStyle/>
          <a:p>
            <a:r>
              <a:rPr lang="en-IN" dirty="0"/>
              <a:t>Shifting Focus of Iterations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63E46-473F-7BB4-BC83-01258E7C6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38200"/>
            <a:ext cx="9448800" cy="57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1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11849</TotalTime>
  <Words>1367</Words>
  <Application>Microsoft Office PowerPoint</Application>
  <PresentationFormat>Widescreen</PresentationFormat>
  <Paragraphs>130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OOAD</vt:lpstr>
      <vt:lpstr>Software Requirement Specification (SRS)</vt:lpstr>
      <vt:lpstr>Benefits of an SRS: </vt:lpstr>
      <vt:lpstr>Rational Unified Process (RUP)</vt:lpstr>
      <vt:lpstr>Characteristics of Process </vt:lpstr>
      <vt:lpstr>Small Project Vs Large Project</vt:lpstr>
      <vt:lpstr>Phases and iterations:</vt:lpstr>
      <vt:lpstr>Phases:</vt:lpstr>
      <vt:lpstr>PowerPoint Presentation</vt:lpstr>
      <vt:lpstr>PowerPoint Presentation</vt:lpstr>
      <vt:lpstr>PowerPoint Presentation</vt:lpstr>
      <vt:lpstr>Process Workflows:</vt:lpstr>
      <vt:lpstr>Process Workflows:</vt:lpstr>
      <vt:lpstr>Process Milestones, Phases, and Iterations</vt:lpstr>
      <vt:lpstr>Shifting Focus of Iterations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OOAD</dc:title>
  <dc:creator>IIITKOTTAYAM</dc:creator>
  <cp:lastModifiedBy>IIITKOTTAYAM</cp:lastModifiedBy>
  <cp:revision>55</cp:revision>
  <dcterms:created xsi:type="dcterms:W3CDTF">2025-01-21T10:43:33Z</dcterms:created>
  <dcterms:modified xsi:type="dcterms:W3CDTF">2026-01-23T07:32:11Z</dcterms:modified>
</cp:coreProperties>
</file>